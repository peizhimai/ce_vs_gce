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703"/>
  </p:normalViewPr>
  <p:slideViewPr>
    <p:cSldViewPr snapToGrid="0">
      <p:cViewPr>
        <p:scale>
          <a:sx n="133" d="100"/>
          <a:sy n="133" d="100"/>
        </p:scale>
        <p:origin x="83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68FCE-3892-A0F8-788F-47C1F829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63D61-62E6-4C8E-672B-00EE1FAEC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76116-2140-85DF-7CD5-164D86ECB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FC765-301D-C8CA-CD1B-1CC4FAB4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5AD9F-FA15-586E-A90C-A81E930E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14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83E99-A360-CC82-C17A-3B0CAD51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10A13-EA8F-43BC-6CFB-99739826B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C9BB7-7904-EB04-A5F0-85C97670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0D5A5-EE98-D7A9-B72A-4F8EE37EB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3AB23-5EF5-F5AB-5043-20B3D01C1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3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B3DDA-D25C-ADF6-F0DA-23A6755D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762E8-5430-99CF-E76C-3804054DF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2FD41-FCAF-73EB-7685-91748A33A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0B764-6125-DF74-4E59-1003AE910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C00DD-E706-2062-74AB-52B1A1AEC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92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719DC-6D50-8BDC-E244-CE5128064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B628F-B6CF-0AE6-B278-508CDA08D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2A6E1-EAFB-BF04-36A2-83E04974B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7FE41-3B85-0632-E317-E437D79D3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880CC-C282-7B20-E5AF-B04389A21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66FCB-E068-0D2C-D453-0ADB1391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128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5025-8351-5FB9-B7B1-18F645CA3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FB387-0707-1C0D-66E8-4A429BC40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4380A-38DD-362A-C49E-3FF46245E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087DE0-2775-DD0F-F938-199A9C5FE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ED175C-1C89-135C-C0CB-414B4820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607BB-12F7-1ABF-6116-10FE68DD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FE6494-7C4A-7346-1960-DFE22F8E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1441CA-EC0F-85E3-A184-08903AF25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88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730D-6DFD-618C-1A1B-B4214C8A9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83921-E990-A913-FDC2-C3DD79FC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CCF28-3D82-8234-89BC-B15EA019E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19B9F-525F-E0B0-B7C9-CB723159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72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039BD0-B842-9B6F-A31E-8850E17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1764-20DF-F938-C52B-B8C344492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782DE-F3AC-DF2D-53E6-6D5C4D161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50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53DFB-1687-DF41-57E2-399128D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95D1B-FBE2-A619-4C55-2CFC405C7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9C26B-E8E3-48FD-1C04-A0F73DEDD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1CB36-FF10-FBE3-8249-2D2DC9600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27D5E-E320-8A0E-B413-E5D61EC91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85CC2-7A66-BF38-91A1-9001EFCF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646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89B1-6331-A237-40D8-428349DB7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887052-0272-F4E8-FFC3-54EF7C61B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B95D22-C7B9-26CA-94BF-C6F592A61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73C6A-EBE8-C64A-6063-E7F30EB22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C635-64F9-61D1-865C-31B8CDDBF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68861-C8AA-ED88-60B5-DFB54BBE2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45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8B155-F17E-91B8-2155-2BAFBD962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3DFBD-61C0-8EED-2222-87B1A3171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307C-CDFA-9586-1781-F51D0411E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6537B-E475-6197-A80B-9D01829B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C905D-E390-9533-9ACE-6D076142F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84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05F9D3-35E6-6493-88E0-F7559D0F1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AA0D4-3D3B-8E68-7704-29A78A20D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B15C2-3839-718E-6D8F-3DC8316B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48BBD-98CD-B1C8-449F-30A15C2E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D8AA2-D2CD-BC0F-D401-C7B633B1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50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B44E87-F624-63C5-8FD9-5980E5C3B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778BC-5D07-EA85-B502-7B3A034A2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40EB3-415A-34A6-3815-1EE9D8ACCA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7BF4B-F825-95B3-C74D-2C0ED8323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E9C2C-26BF-B2DF-F162-26FE961C0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5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1D2542-925C-7577-25B8-D73C279C3F97}"/>
              </a:ext>
            </a:extLst>
          </p:cNvPr>
          <p:cNvSpPr txBox="1"/>
          <p:nvPr/>
        </p:nvSpPr>
        <p:spPr>
          <a:xfrm>
            <a:off x="5795276" y="0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dirty="0"/>
              <a:t>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1D7CC4-6E21-8369-F0BE-9CBB02958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17" y="369332"/>
            <a:ext cx="5021258" cy="31990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85FB9C-4249-08FE-906E-ACF0BAEF4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325" y="369332"/>
            <a:ext cx="5021258" cy="31990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B6AADF-B02C-1D5E-F7A9-BB1B99348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325" y="3569731"/>
            <a:ext cx="5021258" cy="31990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88F0BC-AB71-E8A3-7B76-6B131C8FF8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417" y="3568359"/>
            <a:ext cx="5023413" cy="3200400"/>
          </a:xfrm>
          <a:prstGeom prst="rect">
            <a:avLst/>
          </a:prstGeom>
        </p:spPr>
      </p:pic>
      <p:sp>
        <p:nvSpPr>
          <p:cNvPr id="15" name="Energy per particle: E/N">
            <a:extLst>
              <a:ext uri="{FF2B5EF4-FFF2-40B4-BE49-F238E27FC236}">
                <a16:creationId xmlns:a16="http://schemas.microsoft.com/office/drawing/2014/main" id="{0D9C0B3F-8C76-0C2E-2C5F-ABECBB36769C}"/>
              </a:ext>
            </a:extLst>
          </p:cNvPr>
          <p:cNvSpPr txBox="1"/>
          <p:nvPr/>
        </p:nvSpPr>
        <p:spPr>
          <a:xfrm>
            <a:off x="7544487" y="947370"/>
            <a:ext cx="2829442" cy="351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800"/>
            </a:lvl1pPr>
          </a:lstStyle>
          <a:p>
            <a:r>
              <a:rPr dirty="0"/>
              <a:t>Energy per particle: E/N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E65085-5525-80A7-5C80-19E397AA1F5B}"/>
              </a:ext>
            </a:extLst>
          </p:cNvPr>
          <p:cNvSpPr txBox="1"/>
          <p:nvPr/>
        </p:nvSpPr>
        <p:spPr>
          <a:xfrm>
            <a:off x="2175642" y="5869292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C/N = -beta^2 d(E/N)/d beta</a:t>
            </a:r>
          </a:p>
        </p:txBody>
      </p:sp>
      <p:sp>
        <p:nvSpPr>
          <p:cNvPr id="18" name="Compressibility: CE [V(F(N+1)-2F(N)+F(N-1))]^-1 ; GCE beta Var(N)/V">
            <a:extLst>
              <a:ext uri="{FF2B5EF4-FFF2-40B4-BE49-F238E27FC236}">
                <a16:creationId xmlns:a16="http://schemas.microsoft.com/office/drawing/2014/main" id="{A602B8B5-9216-7B98-04B6-C2E27F26E45E}"/>
              </a:ext>
            </a:extLst>
          </p:cNvPr>
          <p:cNvSpPr txBox="1"/>
          <p:nvPr/>
        </p:nvSpPr>
        <p:spPr>
          <a:xfrm>
            <a:off x="1708205" y="1830346"/>
            <a:ext cx="3273698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800"/>
            </a:lvl1pPr>
          </a:lstStyle>
          <a:p>
            <a:r>
              <a:rPr lang="en-US" altLang="zh-CN" dirty="0"/>
              <a:t>Compressibility</a:t>
            </a:r>
            <a:endParaRPr lang="en-US" dirty="0"/>
          </a:p>
          <a:p>
            <a:r>
              <a:rPr dirty="0"/>
              <a:t>CE [V(F(N+1)-2F(N)+F(N-1))]^-1 ; GCE beta Var(N)/V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5B2D4B-146B-6C12-E0D8-35C3C5B1F006}"/>
              </a:ext>
            </a:extLst>
          </p:cNvPr>
          <p:cNvSpPr txBox="1"/>
          <p:nvPr/>
        </p:nvSpPr>
        <p:spPr>
          <a:xfrm>
            <a:off x="7304690" y="3954546"/>
            <a:ext cx="35840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Entropy per particle: CE (E-F)/(T N) ; GCE (E-Omega-mu N)/(T N)</a:t>
            </a:r>
          </a:p>
        </p:txBody>
      </p:sp>
    </p:spTree>
    <p:extLst>
      <p:ext uri="{BB962C8B-B14F-4D97-AF65-F5344CB8AC3E}">
        <p14:creationId xmlns:p14="http://schemas.microsoft.com/office/powerpoint/2010/main" val="348796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13205-624E-C6DE-2850-D683430A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C114BA-59F2-479F-B30F-66775A4BEC3F}"/>
              </a:ext>
            </a:extLst>
          </p:cNvPr>
          <p:cNvSpPr txBox="1"/>
          <p:nvPr/>
        </p:nvSpPr>
        <p:spPr>
          <a:xfrm>
            <a:off x="5795276" y="0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8</a:t>
            </a:r>
            <a:endParaRPr lang="en-US" dirty="0"/>
          </a:p>
        </p:txBody>
      </p:sp>
      <p:pic>
        <p:nvPicPr>
          <p:cNvPr id="2" name="energy_vs_temperature.png" descr="energy_vs_temperature.png">
            <a:extLst>
              <a:ext uri="{FF2B5EF4-FFF2-40B4-BE49-F238E27FC236}">
                <a16:creationId xmlns:a16="http://schemas.microsoft.com/office/drawing/2014/main" id="{E73A8BF2-CBA1-F536-6B2B-10D0E355F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170" y="369332"/>
            <a:ext cx="5018809" cy="3200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specific_heat_vs_temperature.png" descr="specific_heat_vs_temperature.png">
            <a:extLst>
              <a:ext uri="{FF2B5EF4-FFF2-40B4-BE49-F238E27FC236}">
                <a16:creationId xmlns:a16="http://schemas.microsoft.com/office/drawing/2014/main" id="{53857F8D-5579-ACDA-2AFE-0FCB63B71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41" y="3568359"/>
            <a:ext cx="5018809" cy="3200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compressibility_vs_temperature.png" descr="compressibility_vs_temperature.png">
            <a:extLst>
              <a:ext uri="{FF2B5EF4-FFF2-40B4-BE49-F238E27FC236}">
                <a16:creationId xmlns:a16="http://schemas.microsoft.com/office/drawing/2014/main" id="{039A0C35-71DB-9338-FF49-6155746E8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037" y="367959"/>
            <a:ext cx="5018809" cy="3200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entropy_vs_temperature.png" descr="entropy_vs_temperature.png">
            <a:extLst>
              <a:ext uri="{FF2B5EF4-FFF2-40B4-BE49-F238E27FC236}">
                <a16:creationId xmlns:a16="http://schemas.microsoft.com/office/drawing/2014/main" id="{7D2D3D4A-8A2F-CCB7-7048-40C1C8027F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154" y="3568359"/>
            <a:ext cx="5018809" cy="32004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635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8265B-12CC-0F42-7311-06B61409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5172AB-CDC9-5616-BE99-F2C327EB92A6}"/>
              </a:ext>
            </a:extLst>
          </p:cNvPr>
          <p:cNvSpPr txBox="1"/>
          <p:nvPr/>
        </p:nvSpPr>
        <p:spPr>
          <a:xfrm>
            <a:off x="5795276" y="0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12</a:t>
            </a:r>
            <a:endParaRPr lang="en-US" dirty="0"/>
          </a:p>
        </p:txBody>
      </p:sp>
      <p:pic>
        <p:nvPicPr>
          <p:cNvPr id="2" name="energy_vs_temperature.png" descr="energy_vs_temperature.png">
            <a:extLst>
              <a:ext uri="{FF2B5EF4-FFF2-40B4-BE49-F238E27FC236}">
                <a16:creationId xmlns:a16="http://schemas.microsoft.com/office/drawing/2014/main" id="{E6B3EA71-2C35-CB4B-0738-30D6A241F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170" y="367959"/>
            <a:ext cx="5018809" cy="3200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specific_heat_vs_temperature.png" descr="specific_heat_vs_temperature.png">
            <a:extLst>
              <a:ext uri="{FF2B5EF4-FFF2-40B4-BE49-F238E27FC236}">
                <a16:creationId xmlns:a16="http://schemas.microsoft.com/office/drawing/2014/main" id="{711F0F61-393D-8713-44DF-2C739DF77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17" y="3568359"/>
            <a:ext cx="5018809" cy="3200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compressibility_vs_temperature.png" descr="compressibility_vs_temperature.png">
            <a:extLst>
              <a:ext uri="{FF2B5EF4-FFF2-40B4-BE49-F238E27FC236}">
                <a16:creationId xmlns:a16="http://schemas.microsoft.com/office/drawing/2014/main" id="{BEB84034-2C99-26DB-D007-8FA86CA15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22" y="367959"/>
            <a:ext cx="5018809" cy="3200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entropy_vs_temperature.png" descr="entropy_vs_temperature.png">
            <a:extLst>
              <a:ext uri="{FF2B5EF4-FFF2-40B4-BE49-F238E27FC236}">
                <a16:creationId xmlns:a16="http://schemas.microsoft.com/office/drawing/2014/main" id="{C6B82A1B-32B9-FE43-D869-76F8AFD399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9170" y="3568359"/>
            <a:ext cx="5018809" cy="32004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53918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EA09-04D8-13CB-F537-8F420DF8A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1E9B0A-86B6-98B4-F1DF-2551BDA222B6}"/>
              </a:ext>
            </a:extLst>
          </p:cNvPr>
          <p:cNvSpPr txBox="1"/>
          <p:nvPr/>
        </p:nvSpPr>
        <p:spPr>
          <a:xfrm>
            <a:off x="5795276" y="0"/>
            <a:ext cx="724878" cy="3200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16</a:t>
            </a:r>
            <a:endParaRPr lang="en-US" dirty="0"/>
          </a:p>
        </p:txBody>
      </p:sp>
      <p:pic>
        <p:nvPicPr>
          <p:cNvPr id="2" name="energy_vs_temperature.png" descr="energy_vs_temperature.png">
            <a:extLst>
              <a:ext uri="{FF2B5EF4-FFF2-40B4-BE49-F238E27FC236}">
                <a16:creationId xmlns:a16="http://schemas.microsoft.com/office/drawing/2014/main" id="{DB82F735-E0CE-AC38-9C93-4E6B19328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970" y="228600"/>
            <a:ext cx="5018809" cy="3200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specific_heat_vs_temperature.png" descr="specific_heat_vs_temperature.png">
            <a:extLst>
              <a:ext uri="{FF2B5EF4-FFF2-40B4-BE49-F238E27FC236}">
                <a16:creationId xmlns:a16="http://schemas.microsoft.com/office/drawing/2014/main" id="{58E2A330-BB63-E946-F728-5FF87786D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51" y="3429000"/>
            <a:ext cx="5018809" cy="3200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compressibility_vs_temperature.png" descr="compressibility_vs_temperature.png">
            <a:extLst>
              <a:ext uri="{FF2B5EF4-FFF2-40B4-BE49-F238E27FC236}">
                <a16:creationId xmlns:a16="http://schemas.microsoft.com/office/drawing/2014/main" id="{A2740EFE-45BF-A7C9-3243-A8FCA252B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51" y="228600"/>
            <a:ext cx="5018809" cy="3200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entropy_vs_temperature.png" descr="entropy_vs_temperature.png">
            <a:extLst>
              <a:ext uri="{FF2B5EF4-FFF2-40B4-BE49-F238E27FC236}">
                <a16:creationId xmlns:a16="http://schemas.microsoft.com/office/drawing/2014/main" id="{9AA34CA2-E643-82D0-30EF-2790BB0437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969" y="3429000"/>
            <a:ext cx="5018809" cy="32004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361990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AD94F-922B-4F82-BDF7-265D48A50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F9A133-C78E-5ED3-491D-1091B0A3EF63}"/>
              </a:ext>
            </a:extLst>
          </p:cNvPr>
          <p:cNvSpPr txBox="1"/>
          <p:nvPr/>
        </p:nvSpPr>
        <p:spPr>
          <a:xfrm>
            <a:off x="5795276" y="0"/>
            <a:ext cx="724878" cy="3200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20</a:t>
            </a:r>
            <a:endParaRPr lang="en-US" dirty="0"/>
          </a:p>
        </p:txBody>
      </p:sp>
      <p:pic>
        <p:nvPicPr>
          <p:cNvPr id="2" name="specific_heat_vs_temperature.png" descr="specific_heat_vs_temperature.png">
            <a:extLst>
              <a:ext uri="{FF2B5EF4-FFF2-40B4-BE49-F238E27FC236}">
                <a16:creationId xmlns:a16="http://schemas.microsoft.com/office/drawing/2014/main" id="{471849D9-73F1-CD75-2EC5-249C56327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17" y="3429000"/>
            <a:ext cx="5018809" cy="3200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energy_vs_temperature.png" descr="energy_vs_temperature.png">
            <a:extLst>
              <a:ext uri="{FF2B5EF4-FFF2-40B4-BE49-F238E27FC236}">
                <a16:creationId xmlns:a16="http://schemas.microsoft.com/office/drawing/2014/main" id="{B8074410-CF59-C958-A97D-744CC308A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773" y="244699"/>
            <a:ext cx="5018809" cy="3200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compressibility_vs_temperature.png" descr="compressibility_vs_temperature.png">
            <a:extLst>
              <a:ext uri="{FF2B5EF4-FFF2-40B4-BE49-F238E27FC236}">
                <a16:creationId xmlns:a16="http://schemas.microsoft.com/office/drawing/2014/main" id="{0905AA29-05F7-D4CF-F780-92A51130A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416" y="228600"/>
            <a:ext cx="5018809" cy="3200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entropy_vs_temperature.png" descr="entropy_vs_temperature.png">
            <a:extLst>
              <a:ext uri="{FF2B5EF4-FFF2-40B4-BE49-F238E27FC236}">
                <a16:creationId xmlns:a16="http://schemas.microsoft.com/office/drawing/2014/main" id="{C6F326C0-8B81-8D1F-BD55-053B3D6E4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773" y="3412901"/>
            <a:ext cx="5018809" cy="32004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98393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F455-5944-15BA-BF0B-66438FC5D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6037"/>
            <a:ext cx="10515600" cy="1325563"/>
          </a:xfrm>
        </p:spPr>
        <p:txBody>
          <a:bodyPr/>
          <a:lstStyle/>
          <a:p>
            <a:r>
              <a:rPr lang="en-US" dirty="0"/>
              <a:t>Partition function for Canonical ensemble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A593B1-4495-0EF7-0435-FA947213B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711" y="1325563"/>
            <a:ext cx="959457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58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73619-AF50-49F5-6C0E-5B624A6EF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F927-EF9A-C7EE-0C6D-3D1EF504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6037"/>
            <a:ext cx="10515600" cy="1325563"/>
          </a:xfrm>
        </p:spPr>
        <p:txBody>
          <a:bodyPr/>
          <a:lstStyle/>
          <a:p>
            <a:r>
              <a:rPr lang="en-US" dirty="0"/>
              <a:t>Partition function for Canonical ensemble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CFD787-5AF6-409E-E734-5DE343C08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552" y="1270000"/>
            <a:ext cx="0" cy="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3524B0-A45C-E34E-4B56-5555688C2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488" y="1371600"/>
            <a:ext cx="967902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71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D2EF3-A1E4-3DC4-FF01-B144100D8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A1D54-60E7-E2C1-D685-8F36691D7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6037"/>
            <a:ext cx="10515600" cy="1325563"/>
          </a:xfrm>
        </p:spPr>
        <p:txBody>
          <a:bodyPr/>
          <a:lstStyle/>
          <a:p>
            <a:r>
              <a:rPr lang="en-US" dirty="0"/>
              <a:t>Partition function for Canonical ensemble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10E891-7C24-788F-B57B-D7105E67C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552" y="1270000"/>
            <a:ext cx="0" cy="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47D913-D260-2827-2806-A76D5EA05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78" y="1641560"/>
            <a:ext cx="11090787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15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101</Words>
  <Application>Microsoft Macintosh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Partition function for Canonical ensemble</vt:lpstr>
      <vt:lpstr>Partition function for Canonical ensemble</vt:lpstr>
      <vt:lpstr>Partition function for Canonical ensemble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Mai, Peizhi</dc:creator>
  <cp:lastModifiedBy>Mai, Peizhi</cp:lastModifiedBy>
  <cp:revision>9</cp:revision>
  <dcterms:created xsi:type="dcterms:W3CDTF">2026-03-31T20:18:08Z</dcterms:created>
  <dcterms:modified xsi:type="dcterms:W3CDTF">2026-04-02T19:45:05Z</dcterms:modified>
</cp:coreProperties>
</file>