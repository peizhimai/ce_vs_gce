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Presentation Titl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3" name="Presentation Subtitle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Energy per particle: E/N"/>
          <p:cNvSpPr txBox="1"/>
          <p:nvPr/>
        </p:nvSpPr>
        <p:spPr>
          <a:xfrm>
            <a:off x="254000" y="219100"/>
            <a:ext cx="12446000" cy="374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/>
            </a:lvl1pPr>
          </a:lstStyle>
          <a:p>
            <a:pPr/>
            <a:r>
              <a:t>Energy per particle: E/N</a:t>
            </a:r>
          </a:p>
        </p:txBody>
      </p:sp>
      <p:pic>
        <p:nvPicPr>
          <p:cNvPr id="176" name="energy_vs_temperature.png" descr="energy_vs_temperatur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4000" y="736600"/>
            <a:ext cx="12446000" cy="79365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pecific heat: C/N = -beta^2 d(E/N)/d beta"/>
          <p:cNvSpPr txBox="1"/>
          <p:nvPr/>
        </p:nvSpPr>
        <p:spPr>
          <a:xfrm>
            <a:off x="254000" y="219100"/>
            <a:ext cx="12446001" cy="374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/>
            </a:lvl1pPr>
          </a:lstStyle>
          <a:p>
            <a:pPr/>
            <a:r>
              <a:t>Specific heat: C/N = -beta^2 d(E/N)/d beta</a:t>
            </a:r>
          </a:p>
        </p:txBody>
      </p:sp>
      <p:pic>
        <p:nvPicPr>
          <p:cNvPr id="179" name="specific_heat_vs_temperature.png" descr="specific_heat_vs_temperatur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4000" y="736600"/>
            <a:ext cx="12446000" cy="79365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Compressibility: CE [V(F(N+1)-2F(N)+F(N-1))]^-1 ; GCE beta Var(N)/V"/>
          <p:cNvSpPr txBox="1"/>
          <p:nvPr/>
        </p:nvSpPr>
        <p:spPr>
          <a:xfrm>
            <a:off x="254000" y="-107509"/>
            <a:ext cx="12446000" cy="37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/>
            </a:lvl1pPr>
          </a:lstStyle>
          <a:p>
            <a:pPr/>
            <a:r>
              <a:t>Compressibility: CE [V(F(N+1)-2F(N)+F(N-1))]^-1 ; GCE beta Var(N)/V</a:t>
            </a:r>
          </a:p>
        </p:txBody>
      </p:sp>
      <p:pic>
        <p:nvPicPr>
          <p:cNvPr id="182" name="compressibility_vs_temperature.png" descr="compressibility_vs_temperatur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4000" y="736600"/>
            <a:ext cx="12446001" cy="79429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Entropy per particle: CE (E-F)/(T N) ; GCE (E-Omega-mu N)/(T N)"/>
          <p:cNvSpPr txBox="1"/>
          <p:nvPr/>
        </p:nvSpPr>
        <p:spPr>
          <a:xfrm>
            <a:off x="254000" y="-107509"/>
            <a:ext cx="12446001" cy="37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/>
            </a:lvl1pPr>
          </a:lstStyle>
          <a:p>
            <a:pPr/>
            <a:r>
              <a:t>Entropy per particle: CE (E-F)/(T N) ; GCE (E-Omega-mu N)/(T N)</a:t>
            </a:r>
          </a:p>
        </p:txBody>
      </p:sp>
      <p:pic>
        <p:nvPicPr>
          <p:cNvPr id="185" name="entropy_vs_temperature.png" descr="entropy_vs_temperatur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4000" y="736600"/>
            <a:ext cx="12446000" cy="79365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