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" y="18288"/>
            <a:ext cx="11996928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/>
              <a:t>Disk, OBC, R=4, V=49, N=25, GCE tuned to &lt;N&gt;=25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Energy: E/N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4768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Specific heat: C/N = -beta^2 d(E/N)/d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Compressibility: kappa_CE=[V(F(N+1)-2F(N)+F(N-1))]^-1 ; kappa_GCE=beta Var(N)/V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Entropy: S/N ; CE=(E-F)/(TN), GCE=(E-Omega-mu N)/(TN)</a:t>
            </a:r>
          </a:p>
        </p:txBody>
      </p:sp>
      <p:pic>
        <p:nvPicPr>
          <p:cNvPr id="7" name="Picture 6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" y="392906"/>
            <a:ext cx="5953124" cy="3796195"/>
          </a:xfrm>
          <a:prstGeom prst="rect">
            <a:avLst/>
          </a:prstGeom>
        </p:spPr>
      </p:pic>
      <p:pic>
        <p:nvPicPr>
          <p:cNvPr id="8" name="Picture 7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4" y="392906"/>
            <a:ext cx="5953124" cy="3796195"/>
          </a:xfrm>
          <a:prstGeom prst="rect">
            <a:avLst/>
          </a:prstGeom>
        </p:spPr>
      </p:pic>
      <p:pic>
        <p:nvPicPr>
          <p:cNvPr id="9" name="Picture 8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" y="3768328"/>
            <a:ext cx="5953124" cy="3796195"/>
          </a:xfrm>
          <a:prstGeom prst="rect">
            <a:avLst/>
          </a:prstGeom>
        </p:spPr>
      </p:pic>
      <p:pic>
        <p:nvPicPr>
          <p:cNvPr id="10" name="Picture 9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4" y="3768328"/>
            <a:ext cx="5953124" cy="3796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" y="18288"/>
            <a:ext cx="11996928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/>
              <a:t>Disk, OBC, R=8, V=197, N=99, GCE tuned to &lt;N&gt;=99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Energy: E/N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4768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Specific heat: C/N = -beta^2 d(E/N)/d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Compressibility: kappa_CE=[V(F(N+1)-2F(N)+F(N-1))]^-1 ; kappa_GCE=beta Var(N)/V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Entropy: S/N ; CE=(E-F)/(TN), GCE=(E-Omega-mu N)/(TN)</a:t>
            </a:r>
          </a:p>
        </p:txBody>
      </p:sp>
      <p:pic>
        <p:nvPicPr>
          <p:cNvPr id="7" name="Picture 6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" y="392906"/>
            <a:ext cx="5953124" cy="3796195"/>
          </a:xfrm>
          <a:prstGeom prst="rect">
            <a:avLst/>
          </a:prstGeom>
        </p:spPr>
      </p:pic>
      <p:pic>
        <p:nvPicPr>
          <p:cNvPr id="8" name="Picture 7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4" y="392906"/>
            <a:ext cx="5953124" cy="3796195"/>
          </a:xfrm>
          <a:prstGeom prst="rect">
            <a:avLst/>
          </a:prstGeom>
        </p:spPr>
      </p:pic>
      <p:pic>
        <p:nvPicPr>
          <p:cNvPr id="9" name="Picture 8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" y="3768328"/>
            <a:ext cx="5953124" cy="3796195"/>
          </a:xfrm>
          <a:prstGeom prst="rect">
            <a:avLst/>
          </a:prstGeom>
        </p:spPr>
      </p:pic>
      <p:pic>
        <p:nvPicPr>
          <p:cNvPr id="10" name="Picture 9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4" y="3768328"/>
            <a:ext cx="5953124" cy="37961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" y="18288"/>
            <a:ext cx="11996928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/>
              <a:t>Disk, OBC, R=12, V=441, N=221, GCE tuned to &lt;N&gt;=221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Energy: E/N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4768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Specific heat: C/N = -beta^2 d(E/N)/d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Compressibility: kappa_CE=[V(F(N+1)-2F(N)+F(N-1))]^-1 ; kappa_GCE=beta Var(N)/V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Entropy: S/N ; CE=(E-F)/(TN), GCE=(E-Omega-mu N)/(TN)</a:t>
            </a:r>
          </a:p>
        </p:txBody>
      </p:sp>
      <p:pic>
        <p:nvPicPr>
          <p:cNvPr id="7" name="Picture 6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" y="392906"/>
            <a:ext cx="5953124" cy="3715425"/>
          </a:xfrm>
          <a:prstGeom prst="rect">
            <a:avLst/>
          </a:prstGeom>
        </p:spPr>
      </p:pic>
      <p:pic>
        <p:nvPicPr>
          <p:cNvPr id="8" name="Picture 7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4" y="392906"/>
            <a:ext cx="5953124" cy="3771899"/>
          </a:xfrm>
          <a:prstGeom prst="rect">
            <a:avLst/>
          </a:prstGeom>
        </p:spPr>
      </p:pic>
      <p:pic>
        <p:nvPicPr>
          <p:cNvPr id="9" name="Picture 8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" y="3768328"/>
            <a:ext cx="5953124" cy="3730122"/>
          </a:xfrm>
          <a:prstGeom prst="rect">
            <a:avLst/>
          </a:prstGeom>
        </p:spPr>
      </p:pic>
      <p:pic>
        <p:nvPicPr>
          <p:cNvPr id="10" name="Picture 9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4" y="3768328"/>
            <a:ext cx="5953124" cy="3771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" y="18288"/>
            <a:ext cx="11996928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/>
              <a:t>Disk, OBC, R=16, V=797, N=399, GCE tuned to &lt;N&gt;=399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Energy: E/N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4768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Specific heat: C/N = -beta^2 d(E/N)/d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Compressibility: kappa_CE=[V(F(N+1)-2F(N)+F(N-1))]^-1 ; kappa_GCE=beta Var(N)/V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Entropy: S/N ; CE=(E-F)/(TN), GCE=(E-Omega-mu N)/(TN)</a:t>
            </a:r>
          </a:p>
        </p:txBody>
      </p:sp>
      <p:pic>
        <p:nvPicPr>
          <p:cNvPr id="7" name="Picture 6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" y="392906"/>
            <a:ext cx="5953124" cy="3715425"/>
          </a:xfrm>
          <a:prstGeom prst="rect">
            <a:avLst/>
          </a:prstGeom>
        </p:spPr>
      </p:pic>
      <p:pic>
        <p:nvPicPr>
          <p:cNvPr id="8" name="Picture 7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4" y="392906"/>
            <a:ext cx="5953124" cy="3771899"/>
          </a:xfrm>
          <a:prstGeom prst="rect">
            <a:avLst/>
          </a:prstGeom>
        </p:spPr>
      </p:pic>
      <p:pic>
        <p:nvPicPr>
          <p:cNvPr id="9" name="Picture 8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" y="3768328"/>
            <a:ext cx="5953124" cy="3771899"/>
          </a:xfrm>
          <a:prstGeom prst="rect">
            <a:avLst/>
          </a:prstGeom>
        </p:spPr>
      </p:pic>
      <p:pic>
        <p:nvPicPr>
          <p:cNvPr id="10" name="Picture 9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4" y="3768328"/>
            <a:ext cx="5953124" cy="3771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" y="18288"/>
            <a:ext cx="11996928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/>
              <a:t>Disk, OBC, R=20, V=1257, N=629, GCE tuned to &lt;N&gt;=629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Energy: E/N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4768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Specific heat: C/N = -beta^2 d(E/N)/d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Compressibility: kappa_CE=[V(F(N+1)-2F(N)+F(N-1))]^-1 ; kappa_GCE=beta Var(N)/V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Entropy: S/N ; CE=(E-F)/(TN), GCE=(E-Omega-mu N)/(TN)</a:t>
            </a:r>
          </a:p>
        </p:txBody>
      </p:sp>
      <p:pic>
        <p:nvPicPr>
          <p:cNvPr id="7" name="Picture 6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" y="392906"/>
            <a:ext cx="5953124" cy="3674882"/>
          </a:xfrm>
          <a:prstGeom prst="rect">
            <a:avLst/>
          </a:prstGeom>
        </p:spPr>
      </p:pic>
      <p:pic>
        <p:nvPicPr>
          <p:cNvPr id="8" name="Picture 7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4" y="392906"/>
            <a:ext cx="5953124" cy="3730122"/>
          </a:xfrm>
          <a:prstGeom prst="rect">
            <a:avLst/>
          </a:prstGeom>
        </p:spPr>
      </p:pic>
      <p:pic>
        <p:nvPicPr>
          <p:cNvPr id="9" name="Picture 8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" y="3768328"/>
            <a:ext cx="5953124" cy="3730122"/>
          </a:xfrm>
          <a:prstGeom prst="rect">
            <a:avLst/>
          </a:prstGeom>
        </p:spPr>
      </p:pic>
      <p:pic>
        <p:nvPicPr>
          <p:cNvPr id="10" name="Picture 9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4" y="3768328"/>
            <a:ext cx="5953124" cy="37301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" y="18288"/>
            <a:ext cx="11996928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800"/>
              <a:t>Disk, OBC, R=40, V=5025, N=2513, GCE tuned to &lt;N&gt;=2513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Energy: E/N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4768" y="196596"/>
            <a:ext cx="5952744" cy="2011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Specific heat: C/N = -beta^2 d(E/N)/d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Compressibility: kappa_CE=[V(F(N+1)-2F(N)+F(N-1))]^-1 ; kappa_GCE=beta Var(N)/V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3518611"/>
            <a:ext cx="5952744" cy="2926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00"/>
              <a:t>Entropy: S/N ; CE=(E-F)/(TN), GCE=(E-Omega-mu N)/(TN)</a:t>
            </a:r>
          </a:p>
        </p:txBody>
      </p:sp>
      <p:pic>
        <p:nvPicPr>
          <p:cNvPr id="7" name="Picture 6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" y="392906"/>
            <a:ext cx="5953124" cy="3593654"/>
          </a:xfrm>
          <a:prstGeom prst="rect">
            <a:avLst/>
          </a:prstGeom>
        </p:spPr>
      </p:pic>
      <p:pic>
        <p:nvPicPr>
          <p:cNvPr id="8" name="Picture 7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4" y="392906"/>
            <a:ext cx="5953124" cy="3646461"/>
          </a:xfrm>
          <a:prstGeom prst="rect">
            <a:avLst/>
          </a:prstGeom>
        </p:spPr>
      </p:pic>
      <p:pic>
        <p:nvPicPr>
          <p:cNvPr id="9" name="Picture 8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" y="3768328"/>
            <a:ext cx="5953124" cy="3646461"/>
          </a:xfrm>
          <a:prstGeom prst="rect">
            <a:avLst/>
          </a:prstGeom>
        </p:spPr>
      </p:pic>
      <p:pic>
        <p:nvPicPr>
          <p:cNvPr id="10" name="Picture 9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4" y="3768328"/>
            <a:ext cx="5953124" cy="36464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